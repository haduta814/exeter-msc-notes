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30"/>
  </p:notesMasterIdLst>
  <p:sldIdLst>
    <p:sldId id="256" r:id="rId2"/>
    <p:sldId id="318" r:id="rId3"/>
    <p:sldId id="319" r:id="rId4"/>
    <p:sldId id="351" r:id="rId5"/>
    <p:sldId id="320" r:id="rId6"/>
    <p:sldId id="325" r:id="rId7"/>
    <p:sldId id="345" r:id="rId8"/>
    <p:sldId id="326" r:id="rId9"/>
    <p:sldId id="323" r:id="rId10"/>
    <p:sldId id="341" r:id="rId11"/>
    <p:sldId id="357" r:id="rId12"/>
    <p:sldId id="321" r:id="rId13"/>
    <p:sldId id="347" r:id="rId14"/>
    <p:sldId id="349" r:id="rId15"/>
    <p:sldId id="348" r:id="rId16"/>
    <p:sldId id="350" r:id="rId17"/>
    <p:sldId id="352" r:id="rId18"/>
    <p:sldId id="356" r:id="rId19"/>
    <p:sldId id="354" r:id="rId20"/>
    <p:sldId id="355" r:id="rId21"/>
    <p:sldId id="344" r:id="rId22"/>
    <p:sldId id="322" r:id="rId23"/>
    <p:sldId id="329" r:id="rId24"/>
    <p:sldId id="327" r:id="rId25"/>
    <p:sldId id="342" r:id="rId26"/>
    <p:sldId id="343" r:id="rId27"/>
    <p:sldId id="346" r:id="rId28"/>
    <p:sldId id="308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002DE5-0B41-4D27-B317-83E94D783045}">
  <a:tblStyle styleId="{D1002DE5-0B41-4D27-B317-83E94D7830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1"/>
    <p:restoredTop sz="94730"/>
  </p:normalViewPr>
  <p:slideViewPr>
    <p:cSldViewPr snapToGrid="0">
      <p:cViewPr varScale="1">
        <p:scale>
          <a:sx n="158" d="100"/>
          <a:sy n="158" d="100"/>
        </p:scale>
        <p:origin x="3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46696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9faa3d3f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19faa3d3f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826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f83fb251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f83fb251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911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$D_{KL}(p(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y|x_i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)|| p(y)) = \sum_{j=0}^{999}p(y=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j|x_i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) \log \frac{p(y=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j|x_i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)}{p(y=j)}  $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351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$D_{KL}^{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ave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} = \frac{1}{n} \sum_{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i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=1}^n D_{KL}(p(</a:t>
            </a:r>
            <a:r>
              <a:rPr lang="en-GB" dirty="0" err="1">
                <a:solidFill>
                  <a:srgbClr val="000000"/>
                </a:solidFill>
                <a:effectLst/>
                <a:latin typeface="Monaco" pitchFamily="2" charset="77"/>
              </a:rPr>
              <a:t>y|x_i</a:t>
            </a:r>
            <a:r>
              <a:rPr lang="en-GB" dirty="0">
                <a:solidFill>
                  <a:srgbClr val="000000"/>
                </a:solidFill>
                <a:effectLst/>
                <a:latin typeface="Monaco" pitchFamily="2" charset="77"/>
              </a:rPr>
              <a:t>)|| p(y))$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178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4d9b4cfdd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4d9b4cfdd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82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00050" y="176213"/>
            <a:ext cx="83391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405E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706083" y="48696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mageNet+database&amp;sca_esv=1b51b421767d5001&amp;sxsrf=AE3TifNULa5cA2u90ElVjCgEeyFtFI14sQ%3A1761134667224&amp;ei=S8j4aK63Dca3hbIPn7bV4AE&amp;oq=+inception-v3&amp;gs_lp=Egxnd3Mtd2l6LXNlcnAiDSBpbmNlcHRpb24tdjMqAggAMgYQABgHGB4yBhAAGAcYHjIGEAAYBxgeMgYQABgHGB4yBhAAGAcYHjIGEAAYBxgeMgYQABgHGB4yBRAAGIAEMgUQABiABDILEAAYgAQYkQIYigVIohBQAFgAcAB4AZABAJgBuQGgAbkBqgEDMC4xuAEByAEA-AEBmAIBoAK_AZgDAJIHAzAuMaAHowWyBwMwLjG4B78BwgcDMC4xyAcC&amp;sclient=gws-wiz-serp&amp;mstk=AUtExfAhJJzvnfvGuB_9EkpKcS8iFWmiD98Nqq7eevcKXB3pP4J3yf41qbHxOBZ2AtYat1JGmooio5uEaYfDYdjycgTfj4w_9ziXqpH0UnL0EIY0C5pXM8BQZCSA6E7k5tHQc2uixz7bPwMWCSqImPWMCTX5SA-mtrwG76A4ORHwtJDQQ0DaA5xlAi7ZKn2JwL45PswVnBziAUZPgHessDnn3slfYcwks9xCU3NhMlDa0-Bne_pa8tK_F1-Fl90lcQUOnhc54vTY1-sDrbzHx3eR62D9uj_cK4I-Dp2Oly6U74nZAg&amp;csui=3&amp;ved=2ahUKEwiClNP04beQAxUNUkEAHfGSNd0QgK4QegQIARAD" TargetMode="External"/><Relationship Id="rId2" Type="http://schemas.openxmlformats.org/officeDocument/2006/relationships/hyperlink" Target="https://www.google.com/search?q=convolutional+neural+network&amp;sca_esv=1b51b421767d5001&amp;sxsrf=AE3TifNULa5cA2u90ElVjCgEeyFtFI14sQ%3A1761134667224&amp;ei=S8j4aK63Dca3hbIPn7bV4AE&amp;oq=+inception-v3&amp;gs_lp=Egxnd3Mtd2l6LXNlcnAiDSBpbmNlcHRpb24tdjMqAggAMgYQABgHGB4yBhAAGAcYHjIGEAAYBxgeMgYQABgHGB4yBhAAGAcYHjIGEAAYBxgeMgYQABgHGB4yBRAAGIAEMgUQABiABDILEAAYgAQYkQIYigVIohBQAFgAcAB4AZABAJgBuQGgAbkBqgEDMC4xuAEByAEA-AEBmAIBoAK_AZgDAJIHAzAuMaAHowWyBwMwLjG4B78BwgcDMC4xyAcC&amp;sclient=gws-wiz-serp&amp;mstk=AUtExfAhJJzvnfvGuB_9EkpKcS8iFWmiD98Nqq7eevcKXB3pP4J3yf41qbHxOBZ2AtYat1JGmooio5uEaYfDYdjycgTfj4w_9ziXqpH0UnL0EIY0C5pXM8BQZCSA6E7k5tHQc2uixz7bPwMWCSqImPWMCTX5SA-mtrwG76A4ORHwtJDQQ0DaA5xlAi7ZKn2JwL45PswVnBziAUZPgHessDnn3slfYcwks9xCU3NhMlDa0-Bne_pa8tK_F1-Fl90lcQUOnhc54vTY1-sDrbzHx3eR62D9uj_cK4I-Dp2Oly6U74nZAg&amp;csui=3&amp;ved=2ahUKEwiClNP04beQAxUNUkEAHfGSNd0QgK4QegQIARAC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5.1486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5.14867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ception+Score&amp;sca_esv=1b51b421767d5001&amp;sxsrf=AE3TifNyN-rgcemV1ybNklr-wtxMRfDtvg%3A1761135115857&amp;ei=C8r4aJaINNmChbIPkLDn6QQ&amp;oq=adavantages+of+&amp;gs_lp=Egxnd3Mtd2l6LXNlcnAaAhgDIg9hZGF2YW50YWdlcyBvZiAqAggAMgcQIxixAhgnMgcQABiABBgKMgcQABiABBgKMgcQABiABBgKMgcQABiABBgKMgcQABiABBgKMgoQABiABBgKGIsDMgoQABiABBgKGIsDMgoQABiABBgKGIsDMgoQABiABBgKGIsDSNtSUABYqD9wAngBkAEAmAGlAaAB_A2qAQQyLjEzuAEDyAEA-AEBmAIRoAKxDsICBBAjGCfCAgsQABiABBiRAhiKBcICERAuGIAEGLEDGNEDGIMBGMcBwgILEC4YgAQYsQMYgwHCAggQABiABBixA8ICDhAuGIAEGLEDGNEDGMcBwgIOEAAYgAQYsQMYgwEYigXCAgoQLhiABBhDGIoFwgIIEC4YgAQYsQPCAg0QLhiABBixAxhDGIoFwgINEAAYgAQYsQMYQxiKBcICChAAGIAEGEMYigXCAg0QLhiABBhDGNQCGIoFwgIKEAAYgAQYsQMYCsICBRAAGIAEwgIFEC4YgATCAgsQLhiABBjHARivAcICFhAuGIAEGKYDGMcBGKgDGAoYiwMYrwHCAgcQLhiABBgKwgIQEC4YgAQYsQMYxwEYChivAcICEBAAGIAEGLEDGIMBGIoFGArCAg0QABiABBixAxiDARgKmAMAkgcENC4xM6AH3r8BsgcEMi4xM7gHqg7CBwYwLjEzLjTIByc&amp;sclient=gws-wiz-serp&amp;mstk=AUtExfCZk1sjNlBeF1fbBZ0JaWY2eJBNRBCTQSbUNbjUfw-pjhwrpC02A_NCWPohiacLO4yIkQR3W2B8t12X4LFaZ1us7YTIvkWBNKgy5UDwmBAtcoyszv4pVOUrV5oWk14_b8PsbOJdzb8AinGktocta1RzPgAkyPVz0o8SiwQbrkkJ8yQ&amp;csui=3&amp;ved=2ahUKEwjbwMaa6beQAxX8VkEAHS9LOtwQgK4QegQIBBA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oogle.com/search?q=Inception+v3+model&amp;sca_esv=1b51b421767d5001&amp;sxsrf=AE3TifNyN-rgcemV1ybNklr-wtxMRfDtvg%3A1761135115857&amp;ei=C8r4aJaINNmChbIPkLDn6QQ&amp;oq=adavantages+of+&amp;gs_lp=Egxnd3Mtd2l6LXNlcnAaAhgDIg9hZGF2YW50YWdlcyBvZiAqAggAMgcQIxixAhgnMgcQABiABBgKMgcQABiABBgKMgcQABiABBgKMgcQABiABBgKMgcQABiABBgKMgoQABiABBgKGIsDMgoQABiABBgKGIsDMgoQABiABBgKGIsDMgoQABiABBgKGIsDSNtSUABYqD9wAngBkAEAmAGlAaAB_A2qAQQyLjEzuAEDyAEA-AEBmAIRoAKxDsICBBAjGCfCAgsQABiABBiRAhiKBcICERAuGIAEGLEDGNEDGIMBGMcBwgILEC4YgAQYsQMYgwHCAggQABiABBixA8ICDhAuGIAEGLEDGNEDGMcBwgIOEAAYgAQYsQMYgwEYigXCAgoQLhiABBhDGIoFwgIIEC4YgAQYsQPCAg0QLhiABBixAxhDGIoFwgINEAAYgAQYsQMYQxiKBcICChAAGIAEGEMYigXCAg0QLhiABBhDGNQCGIoFwgIKEAAYgAQYsQMYCsICBRAAGIAEwgIFEC4YgATCAgsQLhiABBjHARivAcICFhAuGIAEGKYDGMcBGKgDGAoYiwMYrwHCAgcQLhiABBgKwgIQEC4YgAQYsQMYxwEYChivAcICEBAAGIAEGLEDGIMBGIoFGArCAg0QABiABBixAxiDARgKmAMAkgcENC4xM6AH3r8BsgcEMi4xM7gHqg7CBwYwLjEzLjTIByc&amp;sclient=gws-wiz-serp&amp;mstk=AUtExfCZk1sjNlBeF1fbBZ0JaWY2eJBNRBCTQSbUNbjUfw-pjhwrpC02A_NCWPohiacLO4yIkQR3W2B8t12X4LFaZ1us7YTIvkWBNKgy5UDwmBAtcoyszv4pVOUrV5oWk14_b8PsbOJdzb8AinGktocta1RzPgAkyPVz0o8SiwQbrkkJ8yQ&amp;csui=3&amp;ved=2ahUKEwjbwMaa6beQAxX8VkEAHS9LOtwQgK4QegQIBBAF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emf"/><Relationship Id="rId5" Type="http://schemas.openxmlformats.org/officeDocument/2006/relationships/image" Target="../media/image12.emf"/><Relationship Id="rId4" Type="http://schemas.openxmlformats.org/officeDocument/2006/relationships/image" Target="../media/image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wangdk93/evaluation-of-image-generation-ec402191d4d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2850450"/>
            <a:ext cx="9144000" cy="2293200"/>
          </a:xfrm>
          <a:prstGeom prst="rect">
            <a:avLst/>
          </a:prstGeom>
          <a:solidFill>
            <a:srgbClr val="007D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89650" y="1427725"/>
            <a:ext cx="80451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 b="1" dirty="0">
                <a:solidFill>
                  <a:srgbClr val="007D69"/>
                </a:solidFill>
                <a:latin typeface="Montserrat"/>
                <a:ea typeface="Montserrat"/>
                <a:cs typeface="Montserrat"/>
                <a:sym typeface="Montserrat"/>
              </a:rPr>
              <a:t>COM114</a:t>
            </a:r>
            <a:endParaRPr sz="8000" b="1" dirty="0">
              <a:solidFill>
                <a:srgbClr val="007D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265850" y="3058225"/>
            <a:ext cx="87288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Generative AI – Image Quality Assessment</a:t>
            </a:r>
            <a:endParaRPr sz="5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975" y="78300"/>
            <a:ext cx="3219351" cy="11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1275" y="-63550"/>
            <a:ext cx="81990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 dirty="0">
                <a:latin typeface="Merriweather"/>
                <a:ea typeface="Merriweather"/>
                <a:cs typeface="Merriweather"/>
                <a:sym typeface="Merriweather"/>
              </a:rPr>
              <a:t>Image quality Assessment</a:t>
            </a:r>
            <a:endParaRPr sz="48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3091" y="1218018"/>
            <a:ext cx="2513830" cy="2966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00050">
              <a:lnSpc>
                <a:spcPct val="150000"/>
              </a:lnSpc>
              <a:buSzPts val="2700"/>
              <a:buFont typeface="Merriweather"/>
              <a:buChar char="●"/>
            </a:pPr>
            <a:r>
              <a:rPr lang="en-GB" sz="2800" dirty="0">
                <a:latin typeface="Merriweather"/>
                <a:ea typeface="Merriweather"/>
                <a:cs typeface="Merriweather"/>
                <a:sym typeface="Merriweather"/>
              </a:rPr>
              <a:t>FID score</a:t>
            </a:r>
          </a:p>
          <a:p>
            <a:pPr marL="457200" indent="-400050">
              <a:lnSpc>
                <a:spcPct val="150000"/>
              </a:lnSpc>
              <a:buSzPts val="2700"/>
              <a:buFont typeface="Merriweather"/>
              <a:buChar char="●"/>
            </a:pPr>
            <a:r>
              <a:rPr lang="en-GB" sz="2800" dirty="0">
                <a:latin typeface="Merriweather"/>
                <a:ea typeface="Merriweather"/>
                <a:cs typeface="Merriweather"/>
                <a:sym typeface="Merriweather"/>
              </a:rPr>
              <a:t>KID score</a:t>
            </a:r>
          </a:p>
          <a:p>
            <a:pPr marL="457200" indent="-400050">
              <a:lnSpc>
                <a:spcPct val="150000"/>
              </a:lnSpc>
              <a:buSzPts val="2700"/>
              <a:buFont typeface="Merriweather"/>
              <a:buChar char="●"/>
            </a:pPr>
            <a:r>
              <a:rPr lang="en-GB" sz="2800" dirty="0">
                <a:latin typeface="Merriweather"/>
                <a:ea typeface="Merriweather"/>
                <a:cs typeface="Merriweather"/>
                <a:sym typeface="Merriweather"/>
              </a:rPr>
              <a:t>IS score</a:t>
            </a:r>
          </a:p>
          <a:p>
            <a:pPr marL="457200" indent="-400050">
              <a:lnSpc>
                <a:spcPct val="150000"/>
              </a:lnSpc>
              <a:buSzPts val="2700"/>
              <a:buFont typeface="Merriweather"/>
              <a:buChar char="●"/>
            </a:pPr>
            <a:r>
              <a:rPr lang="en-GB" sz="2800" dirty="0">
                <a:latin typeface="Merriweather"/>
                <a:ea typeface="Merriweather"/>
                <a:cs typeface="Merriweather"/>
                <a:sym typeface="Merriweather"/>
              </a:rPr>
              <a:t>CLIP score</a:t>
            </a:r>
          </a:p>
          <a:p>
            <a:pPr marL="457200" lvl="1" indent="-400050">
              <a:lnSpc>
                <a:spcPct val="150000"/>
              </a:lnSpc>
              <a:buSzPts val="2700"/>
              <a:buFont typeface="Merriweather"/>
              <a:buChar char="●"/>
            </a:pPr>
            <a:endParaRPr lang="en-GB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211483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dirty="0" err="1"/>
              <a:t>Fréchet</a:t>
            </a:r>
            <a:r>
              <a:rPr lang="en-US" sz="2400" dirty="0"/>
              <a:t> inception distance </a:t>
            </a: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(FID) score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To measure how close a set of fake images to a set of real images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The </a:t>
            </a:r>
            <a:r>
              <a:rPr lang="en-US" sz="2100" b="1" spc="-1" dirty="0">
                <a:solidFill>
                  <a:srgbClr val="000000"/>
                </a:solidFill>
                <a:latin typeface="Arial"/>
                <a:ea typeface="MS PGothic"/>
              </a:rPr>
              <a:t>smaller</a:t>
            </a: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 the FID value, the </a:t>
            </a:r>
            <a:r>
              <a:rPr lang="en-US" sz="2100" b="1" spc="-1" dirty="0">
                <a:solidFill>
                  <a:srgbClr val="000000"/>
                </a:solidFill>
                <a:latin typeface="Arial"/>
                <a:ea typeface="MS PGothic"/>
              </a:rPr>
              <a:t>better</a:t>
            </a: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 quality the set of fake images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FF0000"/>
                </a:solidFill>
                <a:latin typeface="Arial"/>
                <a:ea typeface="MS PGothic"/>
              </a:rPr>
              <a:t>Pre-trained inception-v3 </a:t>
            </a: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is utilized 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Image Quality Assessment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47035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dirty="0"/>
              <a:t>Google's Inception v3 is a </a:t>
            </a:r>
            <a:r>
              <a:rPr lang="en-GB" sz="2400" dirty="0">
                <a:effectLst/>
                <a:hlinkClick r:id="rId2"/>
              </a:rPr>
              <a:t>convolutional neural network</a:t>
            </a:r>
            <a:r>
              <a:rPr lang="en-GB" sz="2400" dirty="0"/>
              <a:t> designed for image recognition and classification, trained on the large </a:t>
            </a:r>
            <a:r>
              <a:rPr lang="en-GB" sz="2400" dirty="0">
                <a:effectLst/>
                <a:hlinkClick r:id="rId3"/>
              </a:rPr>
              <a:t>ImageNet database</a:t>
            </a: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. It is 48 layers deep and capable of classifying images into 1000 categories, with an input size of 299x299 pixels. 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spc="-1" dirty="0">
                <a:solidFill>
                  <a:schemeClr val="tx1"/>
                </a:solidFill>
                <a:latin typeface="Arial"/>
                <a:ea typeface="MS PGothic"/>
              </a:rPr>
              <a:t>Pre-trained inception-v3</a:t>
            </a:r>
            <a:endParaRPr sz="3600" b="1" dirty="0">
              <a:solidFill>
                <a:schemeClr val="tx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" name="Picture 3" descr="A dolphin swimming in the water&#10;&#10;Description automatically generated">
            <a:extLst>
              <a:ext uri="{FF2B5EF4-FFF2-40B4-BE49-F238E27FC236}">
                <a16:creationId xmlns:a16="http://schemas.microsoft.com/office/drawing/2014/main" id="{8A0E6C78-1EEC-EA1A-A049-78452B3D1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517" y="2703212"/>
            <a:ext cx="3899343" cy="2148219"/>
          </a:xfrm>
          <a:prstGeom prst="rect">
            <a:avLst/>
          </a:prstGeom>
        </p:spPr>
      </p:pic>
      <p:pic>
        <p:nvPicPr>
          <p:cNvPr id="6" name="Picture 5" descr="A koala bear on a tree&#10;&#10;Description automatically generated">
            <a:extLst>
              <a:ext uri="{FF2B5EF4-FFF2-40B4-BE49-F238E27FC236}">
                <a16:creationId xmlns:a16="http://schemas.microsoft.com/office/drawing/2014/main" id="{9E3594AA-3D51-C510-E487-70C996C06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40" y="2648475"/>
            <a:ext cx="3899343" cy="21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55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Pipeline for computing FID score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(1)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37022" y="1656224"/>
            <a:ext cx="1968608" cy="101566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165995" y="1656224"/>
            <a:ext cx="2295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pre-trained </a:t>
            </a:r>
          </a:p>
          <a:p>
            <a:pPr algn="ctr"/>
            <a:r>
              <a:rPr lang="en-US" sz="2000" dirty="0"/>
              <a:t>inceptionv3 network</a:t>
            </a:r>
            <a:endParaRPr lang="en-GB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7090" y="1456170"/>
            <a:ext cx="10118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  fake</a:t>
            </a:r>
          </a:p>
          <a:p>
            <a:r>
              <a:rPr lang="en-GB" sz="2000" dirty="0"/>
              <a:t>images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295577" y="2154243"/>
            <a:ext cx="11860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74284" y="2154243"/>
            <a:ext cx="5528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445601" y="1456170"/>
            <a:ext cx="1051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feature </a:t>
            </a:r>
          </a:p>
          <a:p>
            <a:r>
              <a:rPr lang="en-GB" sz="2000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789405" y="1950310"/>
                <a:ext cx="1080104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sub>
                      </m:sSub>
                      <m:r>
                        <a:rPr lang="en-GB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𝑓</m:t>
                          </m:r>
                        </m:sub>
                      </m:sSub>
                      <m:r>
                        <a:rPr lang="en-GB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405" y="1950310"/>
                <a:ext cx="1080104" cy="398955"/>
              </a:xfrm>
              <a:prstGeom prst="rect">
                <a:avLst/>
              </a:prstGeom>
              <a:blipFill rotWithShape="0">
                <a:blip r:embed="rId3"/>
                <a:stretch>
                  <a:fillRect l="-9040" r="-9040" b="-261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4465904" y="1656224"/>
            <a:ext cx="1744635" cy="101566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6210539" y="2149788"/>
            <a:ext cx="5528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01864" y="1679613"/>
            <a:ext cx="1425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fitting</a:t>
            </a:r>
          </a:p>
          <a:p>
            <a:pPr algn="ctr"/>
            <a:r>
              <a:rPr lang="en-GB" sz="2000" dirty="0"/>
              <a:t>Gaussian</a:t>
            </a:r>
          </a:p>
          <a:p>
            <a:pPr algn="ctr"/>
            <a:r>
              <a:rPr lang="en-GB" sz="2000" dirty="0"/>
              <a:t>distribution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59932" y="3885745"/>
            <a:ext cx="1968608" cy="101566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088905" y="3885745"/>
            <a:ext cx="2295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pre-trained </a:t>
            </a:r>
          </a:p>
          <a:p>
            <a:pPr algn="ctr"/>
            <a:r>
              <a:rPr lang="en-US" sz="2000" dirty="0"/>
              <a:t>inceptionv3 network</a:t>
            </a:r>
            <a:endParaRPr lang="en-GB" sz="2000" dirty="0"/>
          </a:p>
        </p:txBody>
      </p:sp>
      <p:sp>
        <p:nvSpPr>
          <p:cNvPr id="28" name="TextBox 27"/>
          <p:cNvSpPr txBox="1"/>
          <p:nvPr/>
        </p:nvSpPr>
        <p:spPr>
          <a:xfrm>
            <a:off x="0" y="3685691"/>
            <a:ext cx="10118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  real</a:t>
            </a:r>
          </a:p>
          <a:p>
            <a:r>
              <a:rPr lang="en-GB" sz="2000" dirty="0"/>
              <a:t>images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3218487" y="4383764"/>
            <a:ext cx="11860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97194" y="4383764"/>
            <a:ext cx="5528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368511" y="3685691"/>
            <a:ext cx="1051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feature </a:t>
            </a:r>
          </a:p>
          <a:p>
            <a:r>
              <a:rPr lang="en-GB" sz="2000" dirty="0"/>
              <a:t>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712315" y="4179831"/>
                <a:ext cx="10688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</m:t>
                          </m:r>
                        </m:sub>
                      </m:sSub>
                      <m:r>
                        <a:rPr lang="en-GB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Σ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𝑟</m:t>
                          </m:r>
                        </m:sub>
                      </m:sSub>
                      <m:r>
                        <a:rPr lang="en-GB" sz="24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2315" y="4179831"/>
                <a:ext cx="1068882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8571" r="-9714" b="-3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/>
          <p:cNvSpPr/>
          <p:nvPr/>
        </p:nvSpPr>
        <p:spPr>
          <a:xfrm>
            <a:off x="4388814" y="3885745"/>
            <a:ext cx="1744635" cy="101566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133449" y="4379309"/>
            <a:ext cx="5528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17731" y="3909133"/>
            <a:ext cx="14253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fitting</a:t>
            </a:r>
          </a:p>
          <a:p>
            <a:pPr algn="ctr"/>
            <a:r>
              <a:rPr lang="en-GB" sz="2000" dirty="0"/>
              <a:t>Gaussian</a:t>
            </a:r>
          </a:p>
          <a:p>
            <a:pPr algn="ctr"/>
            <a:r>
              <a:rPr lang="en-GB" sz="2000" dirty="0"/>
              <a:t>distribution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52282" y="2728715"/>
            <a:ext cx="1264062" cy="101566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7246755" y="3748967"/>
            <a:ext cx="1" cy="347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246755" y="2382703"/>
            <a:ext cx="1" cy="312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29325" y="2893813"/>
            <a:ext cx="13099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compute</a:t>
            </a:r>
          </a:p>
          <a:p>
            <a:pPr algn="ctr"/>
            <a:r>
              <a:rPr lang="en-GB" sz="2000" dirty="0"/>
              <a:t>difference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>
            <a:off x="7791830" y="3237853"/>
            <a:ext cx="3433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35133" y="2905134"/>
            <a:ext cx="811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FID</a:t>
            </a:r>
          </a:p>
          <a:p>
            <a:pPr algn="ctr"/>
            <a:r>
              <a:rPr lang="en-GB" sz="2000" dirty="0"/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114296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(2)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26283" y="1458139"/>
                <a:ext cx="8099461" cy="13472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FID</m:t>
                        </m:r>
                        <m:r>
                          <a:rPr lang="en-GB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(</m:t>
                        </m:r>
                        <m:r>
                          <a:rPr lang="en-GB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sub>
                    </m:sSub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Σ</m:t>
                        </m:r>
                      </m:e>
                      <m:sub>
                        <m:r>
                          <a:rPr lang="en-GB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  <m:sub>
                        <m:r>
                          <a:rPr lang="en-GB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𝑟</m:t>
                        </m:r>
                      </m:sub>
                    </m:sSub>
                    <m:r>
                      <a:rPr lang="en-GB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Σ</m:t>
                        </m:r>
                      </m:e>
                      <m:sub>
                        <m:r>
                          <a:rPr lang="en-GB" sz="24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𝑟</m:t>
                        </m:r>
                      </m:sub>
                    </m:sSub>
                    <m:r>
                      <a:rPr lang="en-GB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)</m:t>
                    </m:r>
                  </m:oMath>
                </a14:m>
                <a:endParaRPr lang="en-GB" sz="2400" b="0" i="1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∥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trace</m:t>
                      </m:r>
                      <m:d>
                        <m:dPr>
                          <m:ctrlPr>
                            <a:rPr lang="is-IS" sz="2400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sz="2400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s-IS" sz="2400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f>
                                        <m:f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2400" i="1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GB" sz="2400" i="1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bSup>
                                  <m:r>
                                    <a:rPr lang="en-US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lang="en-GB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∙</m:t>
                                  </m:r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charset="0"/>
                                          <a:cs typeface="Cambria Math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charset="0"/>
                                          <a:ea typeface="Cambria Math" charset="0"/>
                                          <a:cs typeface="Cambria Math" charset="0"/>
                                        </a:rPr>
                                        <m:t>𝑟</m:t>
                                      </m:r>
                                    </m:sub>
                                    <m:sup>
                                      <m:f>
                                        <m:fPr>
                                          <m:ctrlPr>
                                            <a:rPr lang="bg-BG" sz="2400" i="1"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sz="2400" i="1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GB" sz="2400" i="1"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b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bg-BG" sz="2400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2400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83" y="1458139"/>
                <a:ext cx="8099461" cy="1347228"/>
              </a:xfrm>
              <a:prstGeom prst="rect">
                <a:avLst/>
              </a:prstGeom>
              <a:blipFill rotWithShape="0">
                <a:blip r:embed="rId3"/>
                <a:stretch>
                  <a:fillRect l="-151" t="-34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48586" y="956931"/>
            <a:ext cx="4940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- Formula for Computing FID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586" y="3305251"/>
            <a:ext cx="6429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- Typical number of images for computing FID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775637" y="2825004"/>
                <a:ext cx="70865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≥</m:t>
                      </m:r>
                      <m:r>
                        <a:rPr lang="en-GB" sz="2200" b="0" i="1" dirty="0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637" y="2825004"/>
                <a:ext cx="708656" cy="43088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140474" y="3825728"/>
            <a:ext cx="31582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 </a:t>
            </a:r>
            <a:r>
              <a:rPr lang="en-GB" sz="2000" dirty="0"/>
              <a:t>10K images -30K images</a:t>
            </a:r>
          </a:p>
        </p:txBody>
      </p:sp>
    </p:spTree>
    <p:extLst>
      <p:ext uri="{BB962C8B-B14F-4D97-AF65-F5344CB8AC3E}">
        <p14:creationId xmlns:p14="http://schemas.microsoft.com/office/powerpoint/2010/main" val="198530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A note on FID score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586" y="956931"/>
            <a:ext cx="2680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- Trace of a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99944E-7D52-D71E-11FE-B645D9860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364" y="1559994"/>
            <a:ext cx="7772400" cy="9930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BC1F5A-DCB7-F34C-BDE3-044C0D263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2865383"/>
            <a:ext cx="4064186" cy="172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8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2565788" y="-2387416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Pipeline for computing FID score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(3)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4790" y="735381"/>
            <a:ext cx="83728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Why using feature vectors to compute FID?</a:t>
            </a:r>
          </a:p>
          <a:p>
            <a:r>
              <a:rPr lang="zh-CN" altLang="en-US" sz="2000" dirty="0"/>
              <a:t> 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GB" sz="2000" dirty="0"/>
              <a:t>It was shown to correlate well with human judgement of visual quality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843" y="1969031"/>
            <a:ext cx="5251680" cy="29029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088" y="4819222"/>
            <a:ext cx="8970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M. D. </a:t>
            </a:r>
            <a:r>
              <a:rPr lang="en-GB" dirty="0" err="1"/>
              <a:t>Zeiler</a:t>
            </a:r>
            <a:r>
              <a:rPr lang="en-GB" dirty="0"/>
              <a:t> and R. Fergus, “Visualizing and understanding convolutional networks”, in ECCV. Springer, 2014.</a:t>
            </a:r>
          </a:p>
        </p:txBody>
      </p:sp>
      <p:sp>
        <p:nvSpPr>
          <p:cNvPr id="5" name="Left Brace 4"/>
          <p:cNvSpPr/>
          <p:nvPr/>
        </p:nvSpPr>
        <p:spPr>
          <a:xfrm rot="5400000">
            <a:off x="4409170" y="124550"/>
            <a:ext cx="257186" cy="3532469"/>
          </a:xfrm>
          <a:prstGeom prst="leftBrac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3838083" y="1440237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00B050"/>
                </a:solidFill>
              </a:rPr>
              <a:t>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6083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(4)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6024" y="4712955"/>
            <a:ext cx="8778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”Improved Distribution Matching Distillation for Fast Image Synthesis”, </a:t>
            </a:r>
            <a:r>
              <a:rPr lang="de-DE" dirty="0">
                <a:hlinkClick r:id="rId3"/>
              </a:rPr>
              <a:t>https://arxiv.org/pdf/2405.14867</a:t>
            </a:r>
            <a:r>
              <a:rPr lang="de-DE" dirty="0"/>
              <a:t>, 2024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218" y="1348772"/>
            <a:ext cx="3487774" cy="3354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0402" y="807596"/>
            <a:ext cx="6276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State-of-the-art performance on COCO 2014</a:t>
            </a:r>
          </a:p>
        </p:txBody>
      </p:sp>
    </p:spTree>
    <p:extLst>
      <p:ext uri="{BB962C8B-B14F-4D97-AF65-F5344CB8AC3E}">
        <p14:creationId xmlns:p14="http://schemas.microsoft.com/office/powerpoint/2010/main" val="1633996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(5)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6024" y="4712955"/>
            <a:ext cx="88472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“Improved Distribution Matching Distillation for Fast Image Synthesis”, </a:t>
            </a:r>
            <a:r>
              <a:rPr lang="de-DE" dirty="0">
                <a:hlinkClick r:id="rId3"/>
              </a:rPr>
              <a:t>https://arxiv.org/pdf/2405.14867</a:t>
            </a:r>
            <a:r>
              <a:rPr lang="de-DE" dirty="0"/>
              <a:t>, 2024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390402" y="807596"/>
            <a:ext cx="6293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State-of-the-art performance on ImageNet 64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66" y="1240678"/>
            <a:ext cx="2712304" cy="337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18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(6)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96B70C-49E3-7DA6-D09E-208E6D10709C}"/>
              </a:ext>
            </a:extLst>
          </p:cNvPr>
          <p:cNvSpPr txBox="1">
            <a:spLocks/>
          </p:cNvSpPr>
          <p:nvPr/>
        </p:nvSpPr>
        <p:spPr>
          <a:xfrm>
            <a:off x="342488" y="880485"/>
            <a:ext cx="8325262" cy="429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Comprehensive evaluation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FID evaluates both the visual quality and the diversity of generated images in a single metric.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Better correlation with human judgment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FID scores are shown to correlate well with how humans perceive the quality of generated images.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Robustness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It is more robust than some older metrics like 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  <a:hlinkClick r:id="rId3"/>
              </a:rPr>
              <a:t>Inception Score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 (IS), particularly in identifying issues like mode collapse.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Sensitivity to image features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The metric uses features from the 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  <a:hlinkClick r:id="rId4"/>
              </a:rPr>
              <a:t>Inception v3 model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, which helps capture subtle nuances in images, leading to a more accurate assessment.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Clear interpretation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A lower FID score consistently means the generated images are more similar to real images. A score of 0 indicates the distributions are identical.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Useful for model comparison</a:t>
            </a:r>
            <a:r>
              <a:rPr lang="en-GB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: FID allows for the comparison of different generative models or the impact of changes within a single model, making it easier to track progress.</a:t>
            </a: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938738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Variants of FID</a:t>
            </a:r>
          </a:p>
          <a:p>
            <a:r>
              <a:rPr lang="en-US" dirty="0"/>
              <a:t>Fréchet Audio Distance (FAD)</a:t>
            </a:r>
          </a:p>
          <a:p>
            <a:pPr marL="734400" lvl="1">
              <a:lnSpc>
                <a:spcPct val="100000"/>
              </a:lnSpc>
              <a:spcAft>
                <a:spcPts val="1600"/>
              </a:spcAft>
            </a:pPr>
            <a:r>
              <a:rPr lang="en-US" dirty="0"/>
              <a:t>Measurement of fake audio quality</a:t>
            </a:r>
          </a:p>
          <a:p>
            <a:r>
              <a:rPr lang="en-US" dirty="0"/>
              <a:t>Fréchet Video Distance (FVD)</a:t>
            </a:r>
          </a:p>
          <a:p>
            <a:pPr lvl="1">
              <a:spcAft>
                <a:spcPts val="1600"/>
              </a:spcAft>
            </a:pPr>
            <a:r>
              <a:rPr lang="en-US" dirty="0"/>
              <a:t>Measurement of fake video quality</a:t>
            </a:r>
          </a:p>
          <a:p>
            <a:r>
              <a:rPr lang="en-US" dirty="0"/>
              <a:t>Fréchet </a:t>
            </a:r>
            <a:r>
              <a:rPr lang="en-US" dirty="0" err="1"/>
              <a:t>ChemNet</a:t>
            </a:r>
            <a:r>
              <a:rPr lang="en-US" dirty="0"/>
              <a:t> Distance (FCD)</a:t>
            </a:r>
          </a:p>
          <a:p>
            <a:pPr marL="914400" lvl="2" indent="-361950">
              <a:spcBef>
                <a:spcPts val="800"/>
              </a:spcBef>
              <a:buSzPts val="2100"/>
            </a:pPr>
            <a:r>
              <a:rPr lang="en-US" sz="1800" dirty="0"/>
              <a:t>Measurement of fake molecule quality</a:t>
            </a: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 score (5)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880411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Basic Idea: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1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Uses a polynomial kernel to compute the Maximum Mean Discrepancy (MMD) between real and generated </a:t>
            </a:r>
            <a:r>
              <a:rPr lang="en-GB" sz="21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feature distributions</a:t>
            </a:r>
            <a:r>
              <a:rPr lang="en-GB" sz="21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.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Does not assume Gaussian distribution (unlike FID).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urce-serif-pro"/>
              </a:rPr>
              <a:t>Lower KID indicates better quality (similar to FID).</a:t>
            </a: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Kernel Inception Distance (KID)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2753892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1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Calculating KID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dirty="0">
                <a:solidFill>
                  <a:srgbClr val="00B0F0"/>
                </a:solidFill>
                <a:highlight>
                  <a:srgbClr val="FFFFFF"/>
                </a:highlight>
                <a:latin typeface="source-serif-pro"/>
              </a:rPr>
              <a:t>Feature Extraction: </a:t>
            </a:r>
            <a:r>
              <a:rPr lang="en-US" sz="21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Process batches of real images (𝑋) and generated images (</a:t>
            </a:r>
            <a:r>
              <a:rPr lang="en-US" sz="2100" i="1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Y</a:t>
            </a:r>
            <a:r>
              <a:rPr lang="en-US" sz="21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) through a pre-trained Inception network to obtain feature vectors for each image.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dirty="0">
                <a:solidFill>
                  <a:srgbClr val="00B0F0"/>
                </a:solidFill>
                <a:highlight>
                  <a:srgbClr val="FFFFFF"/>
                </a:highlight>
                <a:latin typeface="source-serif-pro"/>
              </a:rPr>
              <a:t>MMD Estimation: </a:t>
            </a:r>
            <a:r>
              <a:rPr lang="en-US" sz="21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Compute an empirical estimate of the squared MMD using the extracted feature vectors. 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dirty="0">
                <a:solidFill>
                  <a:srgbClr val="00B0F0"/>
                </a:solidFill>
                <a:highlight>
                  <a:srgbClr val="FFFFFF"/>
                </a:highlight>
                <a:latin typeface="source-serif-pro"/>
              </a:rPr>
              <a:t>Averaging: </a:t>
            </a:r>
            <a:r>
              <a:rPr lang="en-US" sz="210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The computation is often repeated over multiple random subsets (splits) of the data, and the results are averaged to obtain a more stable KID estimate.</a:t>
            </a: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KID (1)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3473056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KID (2)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9137E-1931-17CE-BAA3-84B4BCFF7A38}"/>
              </a:ext>
            </a:extLst>
          </p:cNvPr>
          <p:cNvSpPr txBox="1"/>
          <p:nvPr/>
        </p:nvSpPr>
        <p:spPr>
          <a:xfrm>
            <a:off x="522513" y="959580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Pytorch</a:t>
            </a:r>
            <a:r>
              <a:rPr lang="en-US" dirty="0"/>
              <a:t>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E90B25-3965-F93D-BB3C-1AD26D80D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52" y="1301760"/>
            <a:ext cx="7772400" cy="29859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219246-170D-CDFE-E0C3-426FFC69D203}"/>
              </a:ext>
            </a:extLst>
          </p:cNvPr>
          <p:cNvSpPr/>
          <p:nvPr/>
        </p:nvSpPr>
        <p:spPr>
          <a:xfrm>
            <a:off x="655455" y="2571750"/>
            <a:ext cx="7040071" cy="4951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58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spc="-1" dirty="0">
                <a:solidFill>
                  <a:srgbClr val="000000"/>
                </a:solidFill>
                <a:latin typeface="Arial"/>
                <a:ea typeface="MS PGothic"/>
              </a:rPr>
              <a:t>IS score measures both the image fidelity and diversity.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The </a:t>
            </a:r>
            <a:r>
              <a:rPr lang="en-US" sz="2400" b="1" spc="-1" dirty="0">
                <a:solidFill>
                  <a:srgbClr val="000000"/>
                </a:solidFill>
                <a:latin typeface="Arial"/>
                <a:ea typeface="MS PGothic"/>
              </a:rPr>
              <a:t>larger</a:t>
            </a: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 the IS value, the </a:t>
            </a:r>
            <a:r>
              <a:rPr lang="en-US" sz="2400" b="1" spc="-1" dirty="0">
                <a:solidFill>
                  <a:srgbClr val="000000"/>
                </a:solidFill>
                <a:latin typeface="Arial"/>
                <a:ea typeface="MS PGothic"/>
              </a:rPr>
              <a:t>better</a:t>
            </a: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 quality the set of fake images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FF0000"/>
                </a:solidFill>
                <a:latin typeface="Arial"/>
                <a:ea typeface="MS PGothic"/>
              </a:rPr>
              <a:t>Pre-trained inception-v3 </a:t>
            </a: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is utilized </a:t>
            </a:r>
          </a:p>
          <a:p>
            <a:endParaRPr lang="en-US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Inception score (IS) (1)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140623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spc="-1" dirty="0">
                <a:solidFill>
                  <a:srgbClr val="000000"/>
                </a:solidFill>
                <a:latin typeface="Arial"/>
                <a:ea typeface="MS PGothic"/>
              </a:rPr>
              <a:t>Step 1: </a:t>
            </a: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Get conditional probability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Feed each generated image         into a pre-trained Inception v3 model to obtain             .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           is a probability vector over the 1000 classes in ImageNet.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A low entropy of                indicates high image quality.</a:t>
            </a:r>
            <a:endParaRPr lang="en-US" sz="2400" dirty="0"/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Inception score (IS) (2)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4B4F4-9509-7B98-9B7C-18E1B1FAC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891" y="1351426"/>
            <a:ext cx="285664" cy="209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650682-8870-3B5F-0207-74A3E1271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291" y="873712"/>
            <a:ext cx="896383" cy="304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941F13-D35B-F0B5-2416-635BE7085E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371" y="2479145"/>
            <a:ext cx="896383" cy="304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C55F3-EA53-3CAD-35C1-D74AFBBB1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938" y="1689643"/>
            <a:ext cx="760239" cy="2581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569242-4BD1-CF22-A384-E3D04D8D2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48" y="2094245"/>
            <a:ext cx="760239" cy="25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3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spc="-1" dirty="0">
                <a:solidFill>
                  <a:srgbClr val="000000"/>
                </a:solidFill>
                <a:latin typeface="Arial"/>
                <a:ea typeface="MS PGothic"/>
              </a:rPr>
              <a:t>Step 2: </a:t>
            </a: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Get marginal probabilit</a:t>
            </a:r>
            <a:r>
              <a:rPr lang="en-GB" sz="2400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y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Calculate the marginal probability distribution by averaging the conditional probabilities across all generated images.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24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95250" indent="0" algn="l">
              <a:buNone/>
            </a:pPr>
            <a:endParaRPr lang="en-GB" sz="24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A diverse set of images should have a high entropy in this distribution, meaning all classes are represented.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GB" sz="28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Inception score (IS) (3)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D8027-2155-99C4-3C56-A281A366B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65" y="847652"/>
            <a:ext cx="590550" cy="3374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12EDDE-E5F5-8D60-D107-ED71A085A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071" y="2214800"/>
            <a:ext cx="3895857" cy="4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58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spc="-1" dirty="0">
                <a:solidFill>
                  <a:srgbClr val="000000"/>
                </a:solidFill>
                <a:latin typeface="Arial"/>
                <a:ea typeface="MS PGothic"/>
              </a:rPr>
              <a:t>Step 3: </a:t>
            </a: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Compute KL divergence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100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Calculate the KL divergence between each conditional probability        and marginal probability          .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GB" sz="2100" dirty="0">
              <a:solidFill>
                <a:srgbClr val="001D35"/>
              </a:solidFill>
              <a:highlight>
                <a:srgbClr val="FFFFFF"/>
              </a:highlight>
              <a:latin typeface="Google Sans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GB" sz="2100" dirty="0">
              <a:solidFill>
                <a:srgbClr val="001D35"/>
              </a:solidFill>
              <a:highlight>
                <a:srgbClr val="FFFFFF"/>
              </a:highlight>
              <a:latin typeface="Google Sans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GB" sz="20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This measures how different the probability distribution is for a single image compared to the average distribution across all images</a:t>
            </a:r>
            <a:r>
              <a:rPr lang="en-GB" sz="2000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</a:rPr>
              <a:t> </a:t>
            </a:r>
            <a:endParaRPr lang="en-GB" sz="20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GB" sz="28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Inception score (IS) (4)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934BE-73F3-8F6C-5F17-32D1FC7D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074" y="1564579"/>
            <a:ext cx="491514" cy="2808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99808E-1D7E-2D9A-AD07-62C6A6661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617" y="1324705"/>
            <a:ext cx="706296" cy="239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052FC3-C3C1-D105-F67A-52F05E52D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854" y="2068790"/>
            <a:ext cx="5211271" cy="36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70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763824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spc="-1" dirty="0">
                <a:solidFill>
                  <a:srgbClr val="000000"/>
                </a:solidFill>
                <a:latin typeface="Arial"/>
                <a:ea typeface="MS PGothic"/>
              </a:rPr>
              <a:t>Step 4: </a:t>
            </a:r>
            <a:r>
              <a:rPr lang="en-GB" sz="2400" spc="-1" dirty="0">
                <a:solidFill>
                  <a:srgbClr val="001D35"/>
                </a:solidFill>
                <a:highlight>
                  <a:srgbClr val="FFFFFF"/>
                </a:highlight>
                <a:latin typeface="Google Sans"/>
                <a:ea typeface="MS PGothic"/>
              </a:rPr>
              <a:t>Compute the average KL values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b="0" i="0" spc="-1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spc="-1" dirty="0">
              <a:solidFill>
                <a:srgbClr val="001D35"/>
              </a:solidFill>
              <a:highlight>
                <a:srgbClr val="FFFFFF"/>
              </a:highlight>
              <a:latin typeface="Google Sans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GB" sz="2400" b="0" i="0" spc="-1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GB" sz="2400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Step 5: Compute the final IS score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GB" sz="2800" b="0" i="0" dirty="0">
              <a:solidFill>
                <a:srgbClr val="001D35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Inception score (IS) (5)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4D153-29F3-6B99-6BAD-4CCC06B39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081" y="1470145"/>
            <a:ext cx="4428928" cy="359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AA8C27-51AD-5395-5FFC-CF0535622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3301" y="3235588"/>
            <a:ext cx="2289877" cy="36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63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CLIP score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CLIP score is for text-to-image generation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To measure how close a fake image is aligned to the provided text. 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The </a:t>
            </a:r>
            <a:r>
              <a:rPr lang="en-US" sz="2100" b="1" spc="-1" dirty="0">
                <a:solidFill>
                  <a:srgbClr val="000000"/>
                </a:solidFill>
                <a:latin typeface="Arial"/>
                <a:ea typeface="MS PGothic"/>
              </a:rPr>
              <a:t>larger</a:t>
            </a: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 the CLIP value, the higher alignment for the text-image pairs. </a:t>
            </a: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CLIP Score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4225111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Demonstration of text-to-image generation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CLIP score (1)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50529" y="1941699"/>
            <a:ext cx="1836680" cy="97118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0225" y="2073348"/>
            <a:ext cx="199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diffusion-based </a:t>
            </a:r>
          </a:p>
          <a:p>
            <a:pPr algn="ctr"/>
            <a:r>
              <a:rPr lang="en-GB" sz="2000" dirty="0"/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5429" y="3193098"/>
            <a:ext cx="2406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“a girl examining </a:t>
            </a:r>
          </a:p>
          <a:p>
            <a:r>
              <a:rPr lang="en-US" sz="2000" dirty="0"/>
              <a:t>an ammonite fossil”</a:t>
            </a:r>
            <a:endParaRPr lang="en-GB" sz="20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68869" y="2912880"/>
            <a:ext cx="0" cy="303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820329" y="2427290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1008" y="2073348"/>
            <a:ext cx="12682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Gaussian</a:t>
            </a:r>
          </a:p>
          <a:p>
            <a:pPr algn="ctr"/>
            <a:r>
              <a:rPr lang="en-GB" sz="2000" dirty="0"/>
              <a:t>noises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3967135" y="2427288"/>
            <a:ext cx="44598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521" y="1417969"/>
            <a:ext cx="2897603" cy="291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7787" y="4489820"/>
            <a:ext cx="72298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CLIP score measures the correlation between the text prompt </a:t>
            </a:r>
          </a:p>
          <a:p>
            <a:r>
              <a:rPr lang="en-GB" sz="2000" dirty="0">
                <a:solidFill>
                  <a:srgbClr val="FF0000"/>
                </a:solidFill>
              </a:rPr>
              <a:t>and the generated image</a:t>
            </a:r>
          </a:p>
        </p:txBody>
      </p:sp>
    </p:spTree>
    <p:extLst>
      <p:ext uri="{BB962C8B-B14F-4D97-AF65-F5344CB8AC3E}">
        <p14:creationId xmlns:p14="http://schemas.microsoft.com/office/powerpoint/2010/main" val="82485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Demonstration of text-to-image generation</a:t>
            </a:r>
          </a:p>
          <a:p>
            <a:pPr marL="800100" lvl="2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CLIP score (2)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50529" y="1941699"/>
            <a:ext cx="1836680" cy="97118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0225" y="2073348"/>
            <a:ext cx="1994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diffusion-based </a:t>
            </a:r>
          </a:p>
          <a:p>
            <a:pPr algn="ctr"/>
            <a:r>
              <a:rPr lang="en-GB" sz="2000" dirty="0"/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5429" y="3193098"/>
            <a:ext cx="2406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“a girl examining </a:t>
            </a:r>
          </a:p>
          <a:p>
            <a:r>
              <a:rPr lang="en-US" sz="2000" dirty="0"/>
              <a:t>an ammonite fossil”</a:t>
            </a:r>
            <a:endParaRPr lang="en-GB" sz="20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068869" y="2912880"/>
            <a:ext cx="0" cy="303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1820329" y="2427290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1008" y="2073348"/>
            <a:ext cx="12682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Gaussian</a:t>
            </a:r>
          </a:p>
          <a:p>
            <a:pPr algn="ctr"/>
            <a:r>
              <a:rPr lang="en-GB" sz="2000" dirty="0"/>
              <a:t>noises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3967135" y="2427288"/>
            <a:ext cx="44598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352" y="1417969"/>
            <a:ext cx="2907770" cy="29128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7787" y="4489820"/>
            <a:ext cx="6407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Different Gaussian noises lead to different fake images</a:t>
            </a:r>
          </a:p>
        </p:txBody>
      </p:sp>
    </p:spTree>
    <p:extLst>
      <p:ext uri="{BB962C8B-B14F-4D97-AF65-F5344CB8AC3E}">
        <p14:creationId xmlns:p14="http://schemas.microsoft.com/office/powerpoint/2010/main" val="1240466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88" y="728085"/>
            <a:ext cx="8325262" cy="4292649"/>
          </a:xfrm>
        </p:spPr>
        <p:txBody>
          <a:bodyPr>
            <a:normAutofit/>
          </a:bodyPr>
          <a:lstStyle/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400" spc="-1" dirty="0">
                <a:solidFill>
                  <a:srgbClr val="000000"/>
                </a:solidFill>
                <a:latin typeface="Arial"/>
                <a:ea typeface="MS PGothic"/>
              </a:rPr>
              <a:t>Formula for computing CLIP score</a:t>
            </a: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CLIP score (3)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013" y="1456170"/>
            <a:ext cx="5220866" cy="95491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 rot="10800000">
            <a:off x="2209429" y="2657633"/>
            <a:ext cx="1154484" cy="1366284"/>
            <a:chOff x="5622850" y="2486961"/>
            <a:chExt cx="1154484" cy="1366284"/>
          </a:xfrm>
        </p:grpSpPr>
        <p:sp>
          <p:nvSpPr>
            <p:cNvPr id="7" name="Trapezoid 6"/>
            <p:cNvSpPr/>
            <p:nvPr/>
          </p:nvSpPr>
          <p:spPr>
            <a:xfrm rot="16200000">
              <a:off x="5516950" y="2592861"/>
              <a:ext cx="1366284" cy="1154483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rot="10800000">
              <a:off x="5666132" y="2816160"/>
              <a:ext cx="111120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image</a:t>
              </a:r>
            </a:p>
            <a:p>
              <a:pPr algn="ctr"/>
              <a:r>
                <a:rPr lang="en-GB" sz="2000" dirty="0"/>
                <a:t>encoder</a:t>
              </a:r>
            </a:p>
          </p:txBody>
        </p:sp>
      </p:grpSp>
      <p:cxnSp>
        <p:nvCxnSpPr>
          <p:cNvPr id="9" name="Straight Arrow Connector 8"/>
          <p:cNvCxnSpPr/>
          <p:nvPr/>
        </p:nvCxnSpPr>
        <p:spPr>
          <a:xfrm>
            <a:off x="1879229" y="3340774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4" y="3180953"/>
            <a:ext cx="910495" cy="319642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3363913" y="3340773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rot="10800000">
            <a:off x="6328666" y="2583537"/>
            <a:ext cx="1154484" cy="1366284"/>
            <a:chOff x="5622850" y="2486963"/>
            <a:chExt cx="1154484" cy="1366284"/>
          </a:xfrm>
        </p:grpSpPr>
        <p:sp>
          <p:nvSpPr>
            <p:cNvPr id="15" name="Trapezoid 14"/>
            <p:cNvSpPr/>
            <p:nvPr/>
          </p:nvSpPr>
          <p:spPr>
            <a:xfrm rot="16200000">
              <a:off x="5516950" y="2592863"/>
              <a:ext cx="1366284" cy="1154483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extBox 15"/>
            <p:cNvSpPr txBox="1"/>
            <p:nvPr/>
          </p:nvSpPr>
          <p:spPr>
            <a:xfrm rot="10800000">
              <a:off x="5666132" y="2816160"/>
              <a:ext cx="111120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text</a:t>
              </a:r>
            </a:p>
            <a:p>
              <a:pPr algn="ctr"/>
              <a:r>
                <a:rPr lang="en-GB" sz="2000" dirty="0"/>
                <a:t>encoder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>
            <a:off x="5998466" y="3266680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483150" y="3266679"/>
            <a:ext cx="33020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989" y="2985757"/>
            <a:ext cx="960400" cy="34923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7306" y="3129125"/>
            <a:ext cx="665582" cy="27510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5954" y="3101079"/>
            <a:ext cx="699230" cy="2751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1CC7D48-4C4E-1735-B24B-D99DD3E1A2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89" y="4279021"/>
            <a:ext cx="7772400" cy="244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C51C64A-F05E-ADFC-9D74-2201BE2BE8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38" y="4617550"/>
            <a:ext cx="7772400" cy="47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609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CLIP score (4)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0402" y="807596"/>
            <a:ext cx="6276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State-of-the-art performance on COCO 2014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032" y="1348772"/>
            <a:ext cx="3487774" cy="33547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0402" y="4743390"/>
            <a:ext cx="5968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Ideal scenario: Low FID score and high CLIP score</a:t>
            </a:r>
          </a:p>
        </p:txBody>
      </p:sp>
    </p:spTree>
    <p:extLst>
      <p:ext uri="{BB962C8B-B14F-4D97-AF65-F5344CB8AC3E}">
        <p14:creationId xmlns:p14="http://schemas.microsoft.com/office/powerpoint/2010/main" val="46540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FID-CLIP curve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59" y="728085"/>
            <a:ext cx="4812196" cy="3903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8EBC92-3DE1-8DDF-5E10-5322B65EF1A2}"/>
              </a:ext>
            </a:extLst>
          </p:cNvPr>
          <p:cNvSpPr txBox="1"/>
          <p:nvPr/>
        </p:nvSpPr>
        <p:spPr>
          <a:xfrm>
            <a:off x="390402" y="4743390"/>
            <a:ext cx="59683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Ideal scenario: Low FID score and high CLIP score</a:t>
            </a:r>
          </a:p>
        </p:txBody>
      </p:sp>
    </p:spTree>
    <p:extLst>
      <p:ext uri="{BB962C8B-B14F-4D97-AF65-F5344CB8AC3E}">
        <p14:creationId xmlns:p14="http://schemas.microsoft.com/office/powerpoint/2010/main" val="613963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3" y="1"/>
            <a:ext cx="1354666" cy="496589"/>
          </a:xfrm>
          <a:prstGeom prst="rect">
            <a:avLst/>
          </a:prstGeom>
        </p:spPr>
      </p:pic>
      <p:sp>
        <p:nvSpPr>
          <p:cNvPr id="14" name="Google Shape;80;p17"/>
          <p:cNvSpPr txBox="1">
            <a:spLocks noGrp="1"/>
          </p:cNvSpPr>
          <p:nvPr>
            <p:ph type="title"/>
          </p:nvPr>
        </p:nvSpPr>
        <p:spPr>
          <a:xfrm>
            <a:off x="190088" y="0"/>
            <a:ext cx="8199000" cy="7280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latin typeface="Merriweather"/>
                <a:ea typeface="Merriweather"/>
                <a:cs typeface="Merriweather"/>
                <a:sym typeface="Merriweather"/>
              </a:rPr>
              <a:t>Difference between FID and CLIP</a:t>
            </a:r>
            <a:endParaRPr sz="3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9790A-70E6-AA77-92A9-40F72C46916E}"/>
              </a:ext>
            </a:extLst>
          </p:cNvPr>
          <p:cNvSpPr txBox="1">
            <a:spLocks/>
          </p:cNvSpPr>
          <p:nvPr/>
        </p:nvSpPr>
        <p:spPr>
          <a:xfrm>
            <a:off x="190088" y="728085"/>
            <a:ext cx="8325262" cy="4292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000" spc="-1" dirty="0">
                <a:solidFill>
                  <a:srgbClr val="000000"/>
                </a:solidFill>
                <a:latin typeface="Arial"/>
                <a:ea typeface="MS PGothic"/>
              </a:rPr>
              <a:t>FID is computed by measuring the distance between a set of fake images and a set of real images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0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000" spc="-1" dirty="0">
                <a:solidFill>
                  <a:srgbClr val="000000"/>
                </a:solidFill>
                <a:latin typeface="Arial"/>
                <a:ea typeface="MS PGothic"/>
              </a:rPr>
              <a:t>CLIP is computed by measuring a similarity between an image and a text prompt in the latent spaces.  </a:t>
            </a: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r>
              <a:rPr lang="en-US" sz="2000" spc="-1" dirty="0">
                <a:solidFill>
                  <a:srgbClr val="000000"/>
                </a:solidFill>
                <a:latin typeface="Arial"/>
                <a:ea typeface="MS PGothic"/>
              </a:rPr>
              <a:t>One can compute the average CLIP score for a number of text-image pairs to obtain a more reliable CLIP estimate.   </a:t>
            </a:r>
            <a:r>
              <a:rPr lang="en-US" sz="2100" spc="-1" dirty="0">
                <a:solidFill>
                  <a:srgbClr val="000000"/>
                </a:solidFill>
                <a:latin typeface="Arial"/>
                <a:ea typeface="MS PGothic"/>
              </a:rPr>
              <a:t> </a:t>
            </a:r>
            <a:endParaRPr lang="en-US" sz="2400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z="2400" i="1" spc="-1" dirty="0">
              <a:solidFill>
                <a:srgbClr val="000000"/>
              </a:solidFill>
              <a:latin typeface="Arial"/>
              <a:ea typeface="MS PGothic"/>
            </a:endParaRPr>
          </a:p>
          <a:p>
            <a:pPr marL="342900" lvl="1">
              <a:spcBef>
                <a:spcPts val="750"/>
              </a:spcBef>
              <a:buFont typeface="Wingdings" charset="2"/>
              <a:buChar char="Ø"/>
            </a:pPr>
            <a:endParaRPr lang="en-US" spc="-1" dirty="0">
              <a:solidFill>
                <a:srgbClr val="000000"/>
              </a:solidFill>
              <a:latin typeface="Arial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3966550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7"/>
          <p:cNvSpPr txBox="1">
            <a:spLocks noGrp="1"/>
          </p:cNvSpPr>
          <p:nvPr>
            <p:ph type="title"/>
          </p:nvPr>
        </p:nvSpPr>
        <p:spPr>
          <a:xfrm>
            <a:off x="169950" y="165050"/>
            <a:ext cx="8974200" cy="11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 b="1" dirty="0">
                <a:latin typeface="Merriweather"/>
                <a:ea typeface="Merriweather"/>
                <a:cs typeface="Merriweather"/>
                <a:sym typeface="Merriweather"/>
              </a:rPr>
              <a:t>References</a:t>
            </a:r>
            <a:endParaRPr sz="42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4883" y="1309850"/>
            <a:ext cx="3539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“</a:t>
            </a:r>
            <a:r>
              <a:rPr lang="en-GB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  <a:t>Evaluation of Image Generation</a:t>
            </a:r>
            <a:r>
              <a:rPr lang="en-US" dirty="0"/>
              <a:t>”, </a:t>
            </a:r>
            <a:r>
              <a:rPr lang="de-DE" dirty="0">
                <a:hlinkClick r:id="rId3"/>
              </a:rPr>
              <a:t>blog-link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1189</Words>
  <Application>Microsoft Macintosh PowerPoint</Application>
  <PresentationFormat>On-screen Show (16:9)</PresentationFormat>
  <Paragraphs>225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Google Sans</vt:lpstr>
      <vt:lpstr>sohne</vt:lpstr>
      <vt:lpstr>source-serif-pro</vt:lpstr>
      <vt:lpstr>Arial</vt:lpstr>
      <vt:lpstr>Calibri</vt:lpstr>
      <vt:lpstr>Cambria Math</vt:lpstr>
      <vt:lpstr>Helvetica Neue</vt:lpstr>
      <vt:lpstr>Merriweather</vt:lpstr>
      <vt:lpstr>Monaco</vt:lpstr>
      <vt:lpstr>Montserrat</vt:lpstr>
      <vt:lpstr>Wingdings</vt:lpstr>
      <vt:lpstr>Simple Light</vt:lpstr>
      <vt:lpstr>PowerPoint Presentation</vt:lpstr>
      <vt:lpstr>Image quality Assessment</vt:lpstr>
      <vt:lpstr>Image Quality Assessment</vt:lpstr>
      <vt:lpstr>Pre-trained inception-v3</vt:lpstr>
      <vt:lpstr>FID score (1)</vt:lpstr>
      <vt:lpstr>FID score (2)</vt:lpstr>
      <vt:lpstr>A note on FID score</vt:lpstr>
      <vt:lpstr>FID score (3)</vt:lpstr>
      <vt:lpstr>FID score (4)</vt:lpstr>
      <vt:lpstr>FID score (5)</vt:lpstr>
      <vt:lpstr>FID score (6)</vt:lpstr>
      <vt:lpstr>FID score (5)</vt:lpstr>
      <vt:lpstr>Kernel Inception Distance (KID)</vt:lpstr>
      <vt:lpstr>KID (1)</vt:lpstr>
      <vt:lpstr>KID (2)</vt:lpstr>
      <vt:lpstr>Inception score (IS) (1)</vt:lpstr>
      <vt:lpstr>Inception score (IS) (2)</vt:lpstr>
      <vt:lpstr>Inception score (IS) (3)</vt:lpstr>
      <vt:lpstr>Inception score (IS) (4)</vt:lpstr>
      <vt:lpstr>Inception score (IS) (5)</vt:lpstr>
      <vt:lpstr>CLIP Score</vt:lpstr>
      <vt:lpstr>CLIP score (1)</vt:lpstr>
      <vt:lpstr>CLIP score (2)</vt:lpstr>
      <vt:lpstr>CLIP score (3)</vt:lpstr>
      <vt:lpstr>CLIP score (4)</vt:lpstr>
      <vt:lpstr>FID-CLIP curve</vt:lpstr>
      <vt:lpstr>Difference between FID and CLIP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Zhang, Guoqiang</cp:lastModifiedBy>
  <cp:revision>59</cp:revision>
  <dcterms:modified xsi:type="dcterms:W3CDTF">2025-10-22T12:38:35Z</dcterms:modified>
</cp:coreProperties>
</file>